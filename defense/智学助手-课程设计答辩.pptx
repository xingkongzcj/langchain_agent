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2" r:id="rId24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【开场白】</a:t>
            </a:r>
          </a:p>
          <a:p>
            <a:r>
              <a:t>各位老师好，我们是第 1 组，汇报的题目是《智学助手——基于 LangChain 的课程知识库问答与出题系统》。</a:t>
            </a:r>
          </a:p>
          <a:p>
            <a:r>
              <a:t>指导教师是刘泓志老师。下面由我们组成员分别汇报各自负责的部分。</a:t>
            </a:r>
          </a:p>
          <a:p>
            <a:r>
              <a:t>（注意：开场前把封面上的姓名、学号补全。）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【过渡页】</a:t>
            </a:r>
          </a:p>
          <a:p>
            <a:r>
              <a:t>本次汇报共七个部分：选题背景、系统架构与技术选型、RAG 核心原理、数据库设计、功能模块设计与实现、系统测试与结果分析、总结与展望，最后是项目分工。</a:t>
            </a:r>
          </a:p>
          <a:p>
            <a:r>
              <a:t>（语速稍快，30 秒内带过。）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【主讲：袁钟其】</a:t>
            </a:r>
          </a:p>
          <a:p>
            <a:r>
              <a:t>三个痛点要讲清楚：</a:t>
            </a:r>
          </a:p>
          <a:p>
            <a:r>
              <a:t>1. 课程资料多源异构，关键词检索只能匹配字面，无法按语义定位；</a:t>
            </a:r>
          </a:p>
          <a:p>
            <a:r>
              <a:t>2. 通用大模型不了解私有课程资料，容易产生幻觉且无法溯源；</a:t>
            </a:r>
          </a:p>
          <a:p>
            <a:r>
              <a:t>3. 错题无法沉淀、复习缺少计划，学了就忘、错了再错。</a:t>
            </a:r>
          </a:p>
          <a:p>
            <a:r>
              <a:t>最后落到解决思路：以 RAG 为主线，围绕“学、问、练、测、复”构建闭环。</a:t>
            </a:r>
          </a:p>
          <a:p>
            <a:r>
              <a:t>预计提问：为什么通用大模型不能直接用来复习？——答：知识来自公开语料，不了解你的课件，且不给出处。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【主讲：周承锦】</a:t>
            </a:r>
          </a:p>
          <a:p>
            <a:r>
              <a:t>三层结构要配合手势指图讲：表现层（原生前端）、应用层（FastAPI 分层）、数据层（MySQL + Chroma 双库）。</a:t>
            </a:r>
          </a:p>
          <a:p>
            <a:r>
              <a:t>重点强调“为什么两个库”：结构化数据按主键外键精确查询，向量数据要做相似度检索，两者访问方式完全不同，必须分开。</a:t>
            </a:r>
          </a:p>
          <a:p>
            <a:r>
              <a:t>预计提问：为什么选 MySQL 不选 PostgreSQL/SQLite？——答：项目规范要求 MySQL 8.0，外键、事务、JSON 类型都满足需求，SQLite 不适合并发写，PostgreSQL 特性用不上。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【主讲：周承锦】</a:t>
            </a:r>
          </a:p>
          <a:p>
            <a:r>
              <a:t>分两个阶段讲：离线索引（上传→解析切分→向量化→写 Chroma）和 在线问答（提问→问题向量化→相似度检索→拼接上下文→大模型生成→返回来源）。</a:t>
            </a:r>
          </a:p>
          <a:p>
            <a:r>
              <a:t>务必强调底部那句话：入库和检索必须用同一个 Embedding 模型（BAAI/bge-m3），否则处于不同向量空间，检索失效。这是老师喜欢追问的点。</a:t>
            </a:r>
          </a:p>
          <a:p>
            <a:r>
              <a:t>预计提问：切分参数 500/50 怎么定的？——答：500 保证语义完整又不至于噪声太大，50 重叠避免知识点被切断；Markdown 先按标题切再按长度兜底。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【主讲：刘纲正】</a:t>
            </a:r>
          </a:p>
          <a:p>
            <a:r>
              <a:t>【★ 你主讲 — 数据库设计（一）】</a:t>
            </a:r>
          </a:p>
          <a:p>
            <a:r>
              <a:t>讲图顺序建议：</a:t>
            </a:r>
          </a:p>
          <a:p>
            <a:r>
              <a:t>1. 先说图例：矩形=实体，菱形=联系，1/N=基数；实线=直接联系，虚线=冗余外键。</a:t>
            </a:r>
          </a:p>
          <a:p>
            <a:r>
              <a:t>2. 再说结构：课程是中心，文档、出题批次、复习计划直接依赖它；题目依赖批次和课程；错题由题目派生；复习条目属于计划，可空关联题目。</a:t>
            </a:r>
          </a:p>
          <a:p>
            <a:r>
              <a:t>3. 最后说数据流：上传→出题→判题→错题→复习计划→删除级联。</a:t>
            </a:r>
          </a:p>
          <a:p>
            <a:r>
              <a:t>预计提问：为什么题目和错题都要存 course_id？——答：受控冗余，“按课程查题目”是最高频操作，避免每次联表；同一事务写入，不会产生更新异常。</a:t>
            </a:r>
          </a:p>
          <a:p>
            <a:r>
              <a:t>预计提问：表达到第几范式？——答：满足第三范式，course_id 是刻意保留的受控冗余。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【主讲：刘纲正】</a:t>
            </a:r>
          </a:p>
          <a:p>
            <a:r>
              <a:t>【★ 你主讲 — 数据库设计（二）】</a:t>
            </a:r>
          </a:p>
          <a:p>
            <a:r>
              <a:t>要点：CDM 与具体数据库产品无关，只描述实体、属性和约束。</a:t>
            </a:r>
          </a:p>
          <a:p>
            <a:r>
              <a:t>讲清楚 PK（红）/ FK（绿）标注的含义。</a:t>
            </a:r>
          </a:p>
          <a:p>
            <a:r>
              <a:t>关键结论：全部联系都是一对多，不存在多对多，所以转换时不需要中间联系表，只需在“多”端保留“一”端主键作外键。——这句话建议背下来，是得分点。</a:t>
            </a:r>
          </a:p>
          <a:p>
            <a:r>
              <a:t>预计提问：复习条目的 question_id 为什么可空？——答：复习任务分两类，针对具体错题的和纯知识点回顾的，后者没有对应题目。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【主讲：刘纲正】</a:t>
            </a:r>
          </a:p>
          <a:p>
            <a:r>
              <a:t>【★ 你主讲 — 数据库设计（三）】</a:t>
            </a:r>
          </a:p>
          <a:p>
            <a:r>
              <a:t>讲表格时挑重点说，不要逐行念：</a:t>
            </a:r>
          </a:p>
          <a:p>
            <a:r>
              <a:t>· 7 张表，全部由 app/models 下的 SQLAlchemy ORM 模型声明，启动时自动建表；</a:t>
            </a:r>
          </a:p>
          <a:p>
            <a:r>
              <a:t>· options 用 JSON（不同题型选项结构不同），completed 用 TINYINT(1) 存布尔；</a:t>
            </a:r>
          </a:p>
          <a:p>
            <a:r>
              <a:t>· 字符集 utf8mb4；</a:t>
            </a:r>
          </a:p>
          <a:p>
            <a:r>
              <a:t>· 删除时按“复习条目—复习计划—错题—题目—出题批次—文档—课程”逆序级联，并同步删 Chroma 集合。</a:t>
            </a:r>
          </a:p>
          <a:p>
            <a:r>
              <a:t>预计提问：options 用 JSON 不符合第一范式吧？——答：严格说不是原子，但选项结构因题型而异，且不会被单独检索，MySQL 5.7+ 原生支持 JSON，合理。</a:t>
            </a:r>
          </a:p>
          <a:p>
            <a:r>
              <a:t>预计提问：主键为什么自增 BIGINT 不用 UUID？——答：8 字节、索引小、顺序插入不产生页分裂、可读性好；UUID 的优势在分布式，我们单实例用不上。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【主讲：周承锦】</a:t>
            </a:r>
          </a:p>
          <a:p>
            <a:r>
              <a:t>【过渡页】</a:t>
            </a:r>
          </a:p>
          <a:p>
            <a:r>
              <a:t>说明 F1–F2 与课程管理已实现；F3–F5 的 ORM 模型与 Pydantic Schema 均已定义，路由与服务层在实现中。</a:t>
            </a:r>
          </a:p>
          <a:p>
            <a:r>
              <a:t>⚠ 这里要如实说明，不要说“全部完成”。老师若追问，就说表结构已完成、接口层在收尾，这是诚实的说法，比被戳穿好。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【主讲：周承锦】</a:t>
            </a:r>
          </a:p>
          <a:p>
            <a:r>
              <a:t>需填入：模块流程图、Prompt 设计与结构化输出校验、判题逻辑与关键代码、界面截图、测试用例与结果。</a:t>
            </a:r>
          </a:p>
          <a:p>
            <a:r>
              <a:t>讲的时候重点讲“LLM 输出 JSON 如何校验与重试”，这是技术亮点。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【主讲：周承锦】</a:t>
            </a:r>
          </a:p>
          <a:p>
            <a:r>
              <a:t>需填入：错题沉淀流程与关键代码、复习计划生成算法与 Prompt、模块流程图、界面截图、测试用例。</a:t>
            </a:r>
          </a:p>
          <a:p>
            <a:r>
              <a:t>预计提问：复习计划表没有直接关联错题，怎么生成？——答：通过复习条目间接关联，每条条目 question_id 指向对应错题。</a:t>
            </a:r>
          </a:p>
          <a:p>
            <a:r>
              <a:t>预计提问：review_count 有什么用？——答：记录复习次数，为后续做间隔重复（艾宾浩斯曲线）预留。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【主讲：霍飞腾】</a:t>
            </a:r>
          </a:p>
          <a:p>
            <a:r>
              <a:t>需填入：页面布局与交互、三个标签页截图、功能测试用例与数据、结果统计。</a:t>
            </a:r>
          </a:p>
          <a:p>
            <a:r>
              <a:t>讲测试时区分功能测试（黑盒）与结构测试（白盒），把用例表说清楚。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【主讲：袁钟其】</a:t>
            </a:r>
          </a:p>
          <a:p>
            <a:r>
              <a:t>四点：MySQL 走 Docker Compose（端口 3307）、后端 Uvicorn 启动、Chroma 进程内本地持久化、敏感信息走 .env。</a:t>
            </a:r>
          </a:p>
          <a:p>
            <a:r>
              <a:t>⚠ 注意：后端不在 Docker 里跑，别口误说成“Docker 一键启动整个系统”。</a:t>
            </a:r>
          </a:p>
          <a:p>
            <a:r>
              <a:t>末尾的“运行截图”位置需补全。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【主讲：袁钟其】</a:t>
            </a:r>
          </a:p>
          <a:p>
            <a:r>
              <a:t>【收尾】</a:t>
            </a:r>
          </a:p>
          <a:p>
            <a:r>
              <a:t>成果三条、展望三条。</a:t>
            </a:r>
          </a:p>
          <a:p>
            <a:r>
              <a:t>展望部分可以提：多用户隔离、学习统计可视化、混合检索（向量+关键词）、Chroma 迁移 Milvus（requirements.txt 里已预留依赖）。</a:t>
            </a:r>
          </a:p>
          <a:p>
            <a:r>
              <a:t>提到“已预留 Milvus 依赖”会显得有前瞻性。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【主讲：袁钟其】</a:t>
            </a:r>
          </a:p>
          <a:p>
            <a:r>
              <a:t>你负责：数据库设计（E-R / CDM / PDM）、课程设计报告撰写与统稿。</a:t>
            </a:r>
          </a:p>
          <a:p>
            <a:r>
              <a:t>⚠ 答辩前务必把姓名、学号补全。</a:t>
            </a:r>
          </a:p>
          <a:p>
            <a:r>
              <a:t>预计提问：你设计的表和别人的模块怎么对接？——答：我先把 ORM 模型和 Pydantic Schema 定好，其他同学服务层直接引用这些模型读写，保证字段统一。</a:t>
            </a:r>
          </a:p>
          <a:p>
            <a:r>
              <a:t>预计提问：你这部分工作量体现在哪？——答：7 张表三层建模、完整性设计、级联删除顺序设计，以及报告全文统稿。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【结束语】</a:t>
            </a:r>
          </a:p>
          <a:p>
            <a:r>
              <a:t>感谢各位老师，请老师批评指正。</a:t>
            </a:r>
          </a:p>
          <a:p>
            <a:r>
              <a:t>（答谢后准备进入提问环节，把讲解稿和 Q&amp;A 文档放在手边。）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【主讲：陈果】</a:t>
            </a:r>
          </a:p>
          <a:p>
            <a:r>
              <a:t>本页需补充五张界面截图，截图要求与报告第三节“11．实现的界面”一致：</a:t>
            </a:r>
          </a:p>
          <a:p>
            <a:r>
              <a:t>1. 文档管理页（已选课程 + 文档列表，能看到切分块数）</a:t>
            </a:r>
          </a:p>
          <a:p>
            <a:r>
              <a:t>2. 智能问答页（提问与回答，下方显示引用来源卡片）</a:t>
            </a:r>
          </a:p>
          <a:p>
            <a:r>
              <a:t>3. 自动出题页（参数表单 + 题目卡片，含判分结果）</a:t>
            </a:r>
          </a:p>
          <a:p>
            <a:r>
              <a:t>4. 错题本页（错题卡片，用户答案与正确答案对比）</a:t>
            </a:r>
          </a:p>
          <a:p>
            <a:r>
              <a:t>5. 复习计划页（按日期分组的条目，含完成勾选）</a:t>
            </a:r>
          </a:p>
          <a:p>
            <a:r>
              <a:t>讲的时候按“选课程 → 传文档 → 提问 → 出题 → 判错 → 排复习”的顺序讲，完整演示一遍学习闭环。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课程设计（实践）答辩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84831"/>
            <a:ext cx="110642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智学助手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 LangChain 的课程知识库问答与出题系统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E699"/>
                </a:solidFill>
                <a:latin typeface="微软雅黑"/>
                <a:ea typeface="微软雅黑"/>
                <a:cs typeface="微软雅黑"/>
              </a:rPr>
              <a:t>答辩成员：袁钟其（组长）　周承锦　霍飞腾　陈果　刘纲正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E699"/>
                </a:solidFill>
                <a:latin typeface="微软雅黑"/>
                <a:ea typeface="微软雅黑"/>
                <a:cs typeface="微软雅黑"/>
              </a:rPr>
              <a:t>答辩成员：袁钟其（组长）　周承锦　霍飞腾　陈果　刘纲正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E699"/>
                </a:solidFill>
                <a:latin typeface="微软雅黑"/>
                <a:ea typeface="微软雅黑"/>
                <a:cs typeface="微软雅黑"/>
              </a:rPr>
              <a:t>答辩成员：袁钟其（组长）　周承锦　霍飞腾　陈果　刘纲正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>
                <a:solidFill>
                  <a:srgbClr val="FFE699"/>
                </a:solidFill>
                <a:latin typeface="微软雅黑"/>
                <a:ea typeface="微软雅黑"/>
                <a:cs typeface="微软雅黑"/>
              </a:rPr>
              <a:t>答辩成员：袁钟其（组长）　周承锦　霍飞腾　陈果　刘纲正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FFE699"/>
                </a:solidFill>
                <a:latin typeface="微软雅黑"/>
                <a:ea typeface="微软雅黑"/>
                <a:cs typeface="微软雅黑"/>
              </a:rPr>
              <a:t>答辩成员：袁钟其（组长）　周承锦　霍飞腾　陈果　刘纲正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　选题背景与意义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项目来源、待解决的主要问题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　系统总体架构与技术选型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B/S 三层架构、双库存储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　核心原理：检索增强生成（RAG）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离线索引与在线问答两阶段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　数据库设计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E-R 图、CDM 图、PDM 表结构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5　功能模块设计与实现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F1–F5 五大功能模块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6　系统测试与结果分析　——　</a:t>
            </a:r>
            <a:r>
              <a:rPr sz="140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测试用例、数据与分析结论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9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7　总结与展望</a:t>
            </a: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　——　成果总结、后续改进方向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　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课程资料多源异构（PDF / Word / Markdown / TXT），目录式与关键词检索只能匹配字面表述，难以按语义定位知识点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通用大语言模型不了解私有课程资料，直接提问易产生“幻觉”，且回答无法给出出处、难以溯源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错题散落各处、无法自动沉淀，复习缺少计划性，容易陷入“学了就忘、错了再错”的低效循环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16052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109167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本课题的解决思路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以检索增强生成（RAG）为主线技术，将课程资料向量化构建专属知识库，使回答与题目均“有据可依”；围绕“学、问、练、测、复”五个环节构建完整学习闭环，把资料检索、知识问答、自动出题、错题沉淀与复习规划串成连续链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负责人：袁钟其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　系统总体架构与技术选型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表现层：原生 HTML / CSS / JavaScript，课程管理、文档上传、问答、出题、错题本、复习计划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应用层：FastAPI，按接口路由、业务逻辑、LangChain 编排、数据模型与数据契约分层组织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数据层：MySQL 8.0 存储结构化数据 + Chroma 本地持久化向量库，二者职责互不重叠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• 模型服务：SiliconFlow（OpenAI 兼容接口），LLM 采用 deepseek-ai/DeepSeek-V4-Flash，Embedding 采用 BAAI/bge-m3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主要技术选型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572000"/>
          <a:ext cx="1109167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7353"/>
                <a:gridCol w="3588482"/>
                <a:gridCol w="1957353"/>
                <a:gridCol w="3588482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选型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选型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开发语言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3.11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编排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LangChain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Web 框架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FastAPI + Uvicorn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业务数据库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MySQL 8.0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Chroma（本地持久化）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SiliconFlow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原生 HTML/CSS/JS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部署方式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Compose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负责人：周承锦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　核心原理：检索增强生成（RAG）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5</a:t>
            </a:r>
          </a:p>
        </p:txBody>
      </p:sp>
      <p:pic>
        <p:nvPicPr>
          <p:cNvPr id="5" name="Picture 4" descr="ra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468" y="1207008"/>
            <a:ext cx="9868757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1　RAG 工作原理流程图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关键约束：文档入库与问题检索必须使用同一个 Embedding 模型（BAAI/bge-m3），否则二者处于不同向量空间，检索将失效。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负责人：周承锦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　数据库设计（一）：E-R 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6</a:t>
            </a:r>
          </a:p>
        </p:txBody>
      </p:sp>
      <p:pic>
        <p:nvPicPr>
          <p:cNvPr id="5" name="Picture 4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9656" y="1188720"/>
            <a:ext cx="7932382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2　智学助手系统 E-R 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负责人：刘纲正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　数据库设计（二）：概念数据模型 CDM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7</a:t>
            </a:r>
          </a:p>
        </p:txBody>
      </p:sp>
      <p:pic>
        <p:nvPicPr>
          <p:cNvPr id="5" name="Picture 4" descr="cd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398" y="1170432"/>
            <a:ext cx="5520897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3　智学助手系统概念数据模型（CDM）图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负责人：刘纲正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　数据库设计（三）：物理数据模型 PDM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91669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468"/>
                <a:gridCol w="1988129"/>
                <a:gridCol w="3766982"/>
                <a:gridCol w="460409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数据表名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用途说明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核心字段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课程表，系统的数据组织单位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id、name、description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documents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文档表，记录上传资料与入库状态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course_id、filename、chunk_count、status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quiz_batches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出题批次表，记录一次出题参数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course_id、question_type、difficulty、count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questions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题目表，存储生成的题目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batch_id、course_id、type、options、answer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mistakes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错题表，沉淀答错题目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course_id、question_id、user_answer、status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review_plans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复习计划表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course_id、name、status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review_items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复习条目表，按日期组织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plan_id、question_id、review_date、completed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34924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实现要点：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全部表由 app/models 下的 SQLAlchemy ORM 模型声明，应用启动时自动建表，字符集 utf8mb4；删除课程时按“复习条目—复习计划—错题—题目—出题批次—文档—课程”逆序级联清理，并同步删除 Chroma 中对应集合。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负责人：刘纲正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　功能模块设计与实现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9167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205"/>
                <a:gridCol w="1599760"/>
                <a:gridCol w="7252247"/>
                <a:gridCol w="1386459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功能模块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功能要求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课程管理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课程的创建、列表、详情与删除，级联清理全部关联数据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844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上传文档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 PDF/DOCX/DOC/MD/TXT，解析、切分、向量化，返回切分块数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844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智能问答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检索相关片段后生成回答，附引用来源，结果可溯源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844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F3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自动出题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按题型、难度、数量生成题目，含答案与解析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844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错题本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即时判分，答错自动沉淀，支持标记掌握与移除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844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F5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复习计划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基于错题与知识库生成复习计划，按日期安排并跟踪完成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8449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已实现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109167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说明：F1–F5 五大功能模块与课程管理均已实现，</a:t>
            </a:r>
            <a:r>
              <a:rPr sz="1400" b="1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系统已打通“上传—问答—出题—错题—复习”完整学习闭环。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负责人：周承锦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5.1　F3 自动出题与判题模块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BDD7EE"/>
                </a:solidFill>
                <a:latin typeface="微软雅黑"/>
              </a:rPr>
              <a:t>负责人：周承锦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出题流程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72768"/>
          <a:ext cx="1109167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408"/>
                <a:gridCol w="9859264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处理内容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检索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按出题主题从 Chroma 检索相关文本片段，拼接为参考资料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生成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将题型、难度、数量与参考资料填入提示词，交由大模型生成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校验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去除代码块标记后解析 JSON 并校验字段，失败最多重试 2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入库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同一会话中先写出题批次获取编号，再批量写入题目后提交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7033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判题策略（按题型区分）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33087"/>
            <a:ext cx="1109167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单选 / 判断：直接比对答案字符串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多选：先将用户答案与正确答案分别排序再比对，使“AB”与“BA”等价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简答：调用大模型做语义评分；失败时降级为关键词匹配（命中率 60% 判正确）；仍无法判断则记为待复习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5.2　F4 错题本与 F5 复习计划模块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BDD7EE"/>
                </a:solidFill>
                <a:latin typeface="微软雅黑"/>
              </a:rPr>
              <a:t>负责人：周承锦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错题本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109167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判为错误的题目自动写入错题本，记录用户答案、正确答案与解析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同一题目若已存在未掌握记录则不重复插入，避免错题堆积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支持按课程查看、按掌握状态筛选、标记掌握与移除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复习计划生成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218688"/>
          <a:ext cx="1109167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2408"/>
                <a:gridCol w="9859264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处理内容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取错题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读取该课程所有未掌握的错题及其解析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分配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交由大模型将知识点分配到 7 天，输出“第几天 + 知识点”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算日期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服务端以当天为基准计算具体日期后写入条目，避免模型不知当前日期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跟踪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支持查看计划详情与标记完成；无错题时返回明确提示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5.3　前端界面与系统测试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BDD7EE"/>
                </a:solidFill>
                <a:latin typeface="微软雅黑"/>
              </a:rPr>
              <a:t>负责人：霍飞腾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前端界面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10916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左侧为课程列表，右侧顶部为五个功能标签页：文档管理、智能问答、自动出题、错题本、复习计划；采用原生 HTML / CSS / JavaScript 实现，无框架依赖，通过 fetch 调用后端 REST 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系统测试（功能测试 + 结构测试）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788920"/>
          <a:ext cx="1109167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978"/>
                <a:gridCol w="3900368"/>
                <a:gridCol w="6094325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测试内容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预期结果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文档上传与入库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返回切分块数，状态 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文档类型校验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拒绝并提示支持的类型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智能问答 / 空库提问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分别返回带来源的回答 / 上传引导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自动出题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返回结构化题目，含选项、答案、解析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判题与错题沉淀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答错自动写入错题本，不重复插入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复习计划生成 / 无错题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分别返回 7 天条目 / 明确提示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多选题答案比对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“BA”与“AB”判为正确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JSON 解析降级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含代码块标记亦可解析成功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98932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测试结果：六项核心功能均按预期工作；边界场景均能返回明确提示而不产生异常。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5.4　系统界面展示（需补充截图）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300">
                <a:solidFill>
                  <a:srgbClr val="BDD7EE"/>
                </a:solidFill>
                <a:latin typeface="微软雅黑"/>
              </a:rPr>
              <a:t>负责人：陈果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66160"/>
            <a:ext cx="3566160" cy="1417320"/>
          </a:xfrm>
          <a:prstGeom prst="rect">
            <a:avLst/>
          </a:prstGeom>
          <a:solidFill>
            <a:srgbClr val="F2F2F2"/>
          </a:solidFill>
          <a:ln w="1524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【截图 1】
文档管理页</a:t>
            </a:r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已选课程 + 文档列表
含文件名与切分块数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3834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1  文档管理页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3566160"/>
            <a:ext cx="3566160" cy="1417320"/>
          </a:xfrm>
          <a:prstGeom prst="rect">
            <a:avLst/>
          </a:prstGeom>
          <a:solidFill>
            <a:srgbClr val="F2F2F2"/>
          </a:solidFill>
          <a:ln w="1524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【截图 2】
智能问答页</a:t>
            </a:r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提问与 AI 回答
下方显示引用来源卡片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503834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2  智能问答页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3566160"/>
            <a:ext cx="3566160" cy="1417320"/>
          </a:xfrm>
          <a:prstGeom prst="rect">
            <a:avLst/>
          </a:prstGeom>
          <a:solidFill>
            <a:srgbClr val="F2F2F2"/>
          </a:solidFill>
          <a:ln w="1524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【截图 3】
自动出题页</a:t>
            </a:r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参数表单 + 题目卡片
含判分结果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503834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3  自动出题页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1828800"/>
            <a:ext cx="3566160" cy="1417320"/>
          </a:xfrm>
          <a:prstGeom prst="rect">
            <a:avLst/>
          </a:prstGeom>
          <a:solidFill>
            <a:srgbClr val="F2F2F2"/>
          </a:solidFill>
          <a:ln w="1524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【截图 4】
错题本页</a:t>
            </a:r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错题卡片
用户答案与正确答案对比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098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4  错题本页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828800"/>
            <a:ext cx="3566160" cy="1417320"/>
          </a:xfrm>
          <a:prstGeom prst="rect">
            <a:avLst/>
          </a:prstGeom>
          <a:solidFill>
            <a:srgbClr val="F2F2F2"/>
          </a:solidFill>
          <a:ln w="15240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【截图 5】
复习计划页</a:t>
            </a:r>
          </a:p>
          <a:p>
            <a:pPr algn="ctr"/>
            <a:r>
              <a:rPr sz="100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按日期分组的复习条目
含完成勾选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300984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图 5  复习计划页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53328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说明：本页五张截图需在系统实际运行后补充；截图要求与报告第三节“11．实现的界面”一致。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5.5　系统部署与运行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1215" y="274320"/>
            <a:ext cx="3383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BDD7EE"/>
                </a:solidFill>
                <a:latin typeface="微软雅黑"/>
              </a:rPr>
              <a:t>负责人：袁钟其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业务数据库 MySQL 8.0 由 Docker Compose 一键启动，映射端口 3307，数据卷持久化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后端服务由 Uvicorn 启动：uvicorn app.main:app --reload --port 8000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Chroma 以进程内本地持久化方式运行，向量数据落盘至 ./chroma_db，无需独立容器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敏感信息（API Key、数据库口令）统一由 .env 读取，不入库、不硬编码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0690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51960"/>
            <a:ext cx="1109167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运行效果与接口自测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访问 http://127.0.0.1:8000 打开前端页面；/docs 查看自动生成的 API 文档；/api/health 可同时检查 MySQL 与 Chroma 的连通性。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已挂载路由：课程、文档、问答、出题、错题、复习共 6 组接口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　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成果总结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构建了“上传文档 → 智能问答 → 自动出题”的核心链路，回答可溯源、幻觉可控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完成 7 张表的数据库设计并实现 ORM 建模，E-R / CDM / PDM 三层模型完整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系统轻量可控，除 MySQL 外不引入分布式中间件，可在普通个人计算机上一键启动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8620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后续展望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完善 F3–F5 模块，补齐“练、测、复”环节，形成完整学习闭环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增加多用户与登录隔离、学习统计可视化、题目与对话导出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• 探索多轮对话记忆、混合检索（向量 + 关键词）以进一步提升召回质量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85855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　项目分工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9167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833"/>
                <a:gridCol w="1512500"/>
                <a:gridCol w="1613334"/>
                <a:gridCol w="7260003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姓名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学号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具体分工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袁钟其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2306007106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项目管理与协调：方案设计、任务分解与进度把控；环境搭建与部署验证；答辩组织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周承锦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2306007108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系统全部功能代码实现：分层架构、双库接入、文档入库、RAG 问答、出题判题、错题本、复习计划、前端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霍飞腾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2306007127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系统测试与数据整理：测试用例设计与执行、记录结果数据、整理结果分析指标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陈果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2306007120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界面验证与使用文档：五页面操作验证、界面截图采集、使用说明与部署手册</a:t>
                      </a:r>
                    </a:p>
                  </a:txBody>
                  <a:tcPr anchor="ctr">
                    <a:solidFill>
                      <a:srgbClr val="EAF3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刘纲正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2306007103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报告撰写与统稿：数据库三层建模设计、过程论述与结果分析撰写、全文统稿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109167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注：表格中标注“【姓名】”“【学号】”的位置需补全；各成员的功能模块建议对应独立的 Git 提交记录，便于体现贡献度。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7729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>
                <a:solidFill>
                  <a:srgbClr val="808080"/>
                </a:solidFill>
                <a:latin typeface="微软雅黑"/>
              </a:rPr>
              <a:t>17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感谢各位老师的聆听与指导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24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敬请批评指正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第 1 组 · 智学助手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