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3" r:id="rId13"/>
    <p:sldId id="274" r:id="rId14"/>
    <p:sldId id="265" r:id="rId15"/>
    <p:sldId id="266" r:id="rId16"/>
    <p:sldId id="267" r:id="rId17"/>
    <p:sldId id="275" r:id="rId18"/>
    <p:sldId id="268" r:id="rId19"/>
    <p:sldId id="269" r:id="rId20"/>
    <p:sldId id="270" r:id="rId21"/>
    <p:sldId id="271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【主讲：霍飞腾】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课程设计（实践）答辩</a:t>
            </a:r>
            <a:endParaRPr sz="22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智学助手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LangChain 的课程知识库问答与出题系统</a:t>
            </a:r>
            <a:endParaRPr sz="2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8200" y="4526280"/>
            <a:ext cx="10515600" cy="628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答辩成员：袁钟其（组长）　周承锦　霍飞腾　陈果　刘纲正</a:t>
            </a:r>
            <a:endParaRPr sz="1500">
              <a:solidFill>
                <a:srgbClr val="FFE6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endParaRPr sz="1500">
              <a:solidFill>
                <a:srgbClr val="FFE6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Contents</a:t>
            </a:r>
            <a:endParaRPr sz="13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项目来源、待解决的主要问题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B/S 三层架构、双库存储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离线索引与在线问答两阶段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E-R 图、CDM 图、PDM 表结构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F1–F5 五大功能模块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　系统测试与结果分析　——　</a:t>
            </a:r>
            <a:r>
              <a:rPr sz="14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测试用例、数据与分析结论</a:t>
            </a:r>
            <a:endParaRPr sz="14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成果总结、后续改进方向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　选题背景与意义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课程资料多源异构（PDF / Word / Markdown / TXT），目录式与关键词检索只能匹配字面表述，难以按语义定位知识点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通用大语言模型不了解私有课程资料，直接提问易产生“幻觉”，且回答无法给出出处、难以溯源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错题散落各处、无法自动沉淀，复习缺少计划性，容易陷入“学了就忘、错了再错”的低效循环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本课题的解决思路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负责人：袁钟其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　系统总体架构与技术选型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表现层：原生 HTML / CSS / JavaScript，课程管理、文档上传、问答、出题、错题本、复习计划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应用层：FastAPI，按接口路由、业务逻辑、LangChain 编排、数据模型与数据契约分层组织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数据层：MySQL 8.0 存储结构化数据 + Chroma 本地持久化向量库，二者职责互不重叠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模型服务：SiliconFlow（OpenAI 兼容接口），LLM 采用 deepseek-ai/DeepSeek-V4-Flash，Embedding 采用 BAAI/bge-m3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主要技术选型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开发语言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Python 3.11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编排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LangChain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Web 框架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FastAPI + Uvicorn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业务数据库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MySQL 8.0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向量数据库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Chroma（本地持久化）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模型服务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SiliconFlow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前端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原生 HTML/CSS/JS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部署方式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Docker Compose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　核心原理：检索增强生成（RAG）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1　RAG 工作原理流程图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关键约束：文档入库与问题检索必须使用同一个 Embedding 模型（BAAI/bge-m3），否则二者处于不同向量空间，检索将失效。</a:t>
            </a:r>
            <a:endParaRPr sz="13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数据库设计（一）：E-R 图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2　智学助手系统 E-R 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数据库设计（二）：概念数据模型 CDM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3　智学助手系统概念数据模型（CDM）图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数据库设计（三）：物理数据模型 PDM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序号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数据表名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用途说明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核心字段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课程表，系统的数据组织单位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id、name、description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documents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文档表，记录上传资料与入库状态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course_id、filename、chunk_count、status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quiz_batches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出题批次表，记录一次出题参数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course_id、question_type、difficulty、count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questions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题目表，存储生成的题目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batch_id、course_id、type、options、answer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mistakes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错题表，沉淀答错题目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course_id、question_id、user_answer、status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review_plans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复习计划表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course_id、name、status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review_items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复习条目表，按日期组织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plan_id、question_id、review_date、completed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实现要点：</a:t>
            </a:r>
            <a:endParaRPr sz="15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　功能模块设计与实现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编号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功能模块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功能要求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状态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课程管理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课程的创建、列表、详情与删除，级联清理全部关联数据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上传文档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支持 PDF/DOCX/DOC/MD/TXT，解析、切分、向量化，返回切分块数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F2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智能问答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检索相关片段后生成回答，附引用来源，结果可溯源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F3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自动出题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按题型、难度、数量生成题目，含答案与解析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F4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错题本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即时判分，答错自动沉淀，支持标记掌握与移除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F5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基于错题与知识库生成复习计划，按日期安排并跟踪完成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系统已打通“上传—问答—出题—错题—复习”完整学习闭环。</a:t>
            </a:r>
            <a:endParaRPr sz="14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5.1　功能演示（一）：文档入库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操作流程</a:t>
            </a:r>
            <a:endParaRPr sz="180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新建课程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2697480" y="2231136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4871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上传文档
(PDF/Word/MD/TXT)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2697480" y="3145535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34015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自动解析切分
(500字符/重叠50)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Down Arrow 10"/>
          <p:cNvSpPr/>
          <p:nvPr/>
        </p:nvSpPr>
        <p:spPr>
          <a:xfrm>
            <a:off x="2697480" y="4059935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43159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向量化入库
(BGE-M3)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Down Arrow 12"/>
          <p:cNvSpPr/>
          <p:nvPr/>
        </p:nvSpPr>
        <p:spPr>
          <a:xfrm>
            <a:off x="2697480" y="4974336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52303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状态变 completed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44768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 5 类格式 · 单文件 ≤10MB · 入库 &lt;30 秒</a:t>
            </a:r>
            <a:endParaRPr sz="12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577840" y="1280160"/>
            <a:ext cx="5943600" cy="39319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A】
文档管理页演示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已选课程 + 上传中的加载提示
+ 完成后的文档列表（含切分块数与状态）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577840" y="5321808"/>
            <a:ext cx="5943600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演示截图</a:t>
            </a:r>
            <a:endParaRPr sz="11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bfb5efee686c257c6dd3f16ee3f716c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9560" y="1251585"/>
            <a:ext cx="6289040" cy="40703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5.2　功能演示（二）：智能问答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问答过程</a:t>
            </a:r>
            <a:endParaRPr sz="180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选择课程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2697480" y="2231136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4871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输入问题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2697480" y="3145535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34015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向量化并
检索 top_k 片段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Down Arrow 10"/>
          <p:cNvSpPr/>
          <p:nvPr/>
        </p:nvSpPr>
        <p:spPr>
          <a:xfrm>
            <a:off x="2697480" y="4059935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43159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拼接上下文
大模型生成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Down Arrow 12"/>
          <p:cNvSpPr/>
          <p:nvPr/>
        </p:nvSpPr>
        <p:spPr>
          <a:xfrm>
            <a:off x="2697480" y="4974336"/>
            <a:ext cx="182880" cy="256032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5230368"/>
            <a:ext cx="4480560" cy="658368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返回回答
+ 引用来源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44768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亮点：答案可溯源，附文件名与原文片段摘要</a:t>
            </a:r>
            <a:endParaRPr sz="12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577840" y="1280160"/>
            <a:ext cx="5943600" cy="39319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B】
智能问答页演示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聊天式布局 + AI 回答
+ 回答下方的引用来源卡片（文件名/原文摘要）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577840" y="5321808"/>
            <a:ext cx="5943600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演示截图</a:t>
            </a:r>
            <a:endParaRPr sz="11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9" name="图片 18" descr="ca5a6761a4240cfa9514e9ef41757ecc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6700" y="1219835"/>
            <a:ext cx="6360795" cy="4102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5.3　F3 自动出题与判题模块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出题流程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895"/>
          <a:ext cx="624205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055"/>
                <a:gridCol w="5547995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步骤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处理内容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检索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按出题主题从 Chroma 检索相关文本片段，拼接为参考资料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② 生成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将题型、难度、数量与参考资料填入提示词，交由大模型生成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③ 校验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去除代码块标记后解析 JSON 并校验字段，失败最多重试 2 次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④ 入库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同一会话中先写出题批次获取编号，再批量写入题目后提交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判题策略（按题型区分）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133215"/>
            <a:ext cx="4796155" cy="1499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单选 / 判断：直接比对答案字符串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多选：先将用户答案与正确答案分别排序再比对，使“AB”与“BA”等价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简答：调用大模型做语义评分；失败时降级为关键词匹配（命中率 60% 判正确）；仍无法判断则记为待复习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图片 9" descr="616d32327babf71b30e6beb8c57db5f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2510" y="1508760"/>
            <a:ext cx="5788025" cy="33204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5.4　F4 错题本与 F5 复习计划模块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错题本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72895"/>
            <a:ext cx="5084445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判为错误的题目自动写入错题本，记录用户答案、正确答案与解析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同一题目若已存在未掌握记录则不重复插入，避免错题堆积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支持按课程查看、按掌握状态筛选、标记掌握与移除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复习计划生成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815"/>
          <a:ext cx="427609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980"/>
                <a:gridCol w="380111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步骤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处理内容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取错题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读取该课程所有未掌握的错题及其解析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② 分配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交由大模型将知识点分配到 7 天，输出“第几天 + 知识点”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③ 算日期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服务端以当天为基准计算具体日期后写入条目，避免模型不知当前日期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④ 跟踪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支持查看计划详情与标记完成；无错题时返回明确提示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pic>
        <p:nvPicPr>
          <p:cNvPr id="10" name="图片 9" descr="58cb55beb300f6cca056702bbbcf823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7590" y="1214120"/>
            <a:ext cx="4565015" cy="2525395"/>
          </a:xfrm>
          <a:prstGeom prst="rect">
            <a:avLst/>
          </a:prstGeom>
        </p:spPr>
      </p:pic>
      <p:pic>
        <p:nvPicPr>
          <p:cNvPr id="11" name="图片 10" descr="1ea2b7f88a7f4e965704607efe77f8a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3899535"/>
            <a:ext cx="4582795" cy="25361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5.5　前端界面与系统测试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负责人：霍飞腾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前端界面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系统测试（功能测试 + 结构测试）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预期结果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文档上传与入库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返回切分块数，状态 completed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文档类型校验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拒绝并提示支持的类型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智能问答 / 空库提问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分别返回带来源的回答 / 上传引导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自动出题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返回结构化题目，含选项、答案、解析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判题与错题沉淀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答错自动写入错题本，不重复插入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复习计划生成 / 无错题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分别返回 7 天条目 / 明确提示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多选题答案比对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“BA”与“AB”判为正确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JSON 解析降级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含代码块标记亦可解析成功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测试结果：六项核心功能均按预期工作；边界场景均能返回明确提示而不产生异常。</a:t>
            </a:r>
            <a:endParaRPr sz="14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3751"/>
            <a:ext cx="1115568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</a:t>
            </a:r>
            <a:r>
              <a:rPr lang="en-US"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功能演示（五）：端到端学习闭环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一条完整的学习闭环（演示脚本）</a:t>
            </a:r>
            <a:endParaRPr sz="180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1874519" cy="914400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上传课件
建知识库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2377439" y="1975104"/>
            <a:ext cx="274320" cy="219456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7480" y="1627632"/>
            <a:ext cx="1874519" cy="914400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针对课件
智能问答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572000" y="1975104"/>
            <a:ext cx="274320" cy="219456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92040" y="1627632"/>
            <a:ext cx="1874519" cy="914400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生成题目
在线作答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6766559" y="1975104"/>
            <a:ext cx="274320" cy="219456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86600" y="1627632"/>
            <a:ext cx="1874519" cy="914400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答错自动
进错题本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8961120" y="1975104"/>
            <a:ext cx="274320" cy="219456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81160" y="1627632"/>
            <a:ext cx="1874519" cy="914400"/>
          </a:xfrm>
          <a:prstGeom prst="roundRect">
            <a:avLst/>
          </a:prstGeom>
          <a:solidFill>
            <a:srgbClr val="EAF3FB"/>
          </a:solidFill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一键生成
7天复习计划</a:t>
            </a:r>
            <a:endParaRPr sz="120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3200400"/>
            <a:ext cx="1115568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“先上传一份课程讲义，系统自动切分成知识块并向量化入库。”</a:t>
            </a:r>
            <a:endParaRPr sz="14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“切换到智能问答，问一个课件里的问题，注意回答下方带引用来源。”</a:t>
            </a:r>
            <a:endParaRPr sz="14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“用自动出题生成 5 道单选题，现场点一道作答，答错后立即判分。”</a:t>
            </a:r>
            <a:endParaRPr sz="14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“切到错题本，看到刚才答错的题已自动沉淀，含答案对比与解析。”</a:t>
            </a:r>
            <a:endParaRPr sz="14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“生成复习计划，系统按错题把知识点排到 7 天，日期从今天起算。”</a:t>
            </a:r>
            <a:endParaRPr sz="14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3903"/>
            <a:ext cx="11185855" cy="499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</a:t>
            </a:r>
            <a:r>
              <a:rPr lang="en-US"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系统部署与运行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负责人：袁钟其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业务数据库 MySQL 8.0 由 Docker Compose 一键启动，映射端口 3307，数据卷持久化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后端服务由 Uvicorn 启动：uvicorn app.main:app --reload --port 8000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Chroma 以进程内本地持久化方式运行，向量数据落盘至 ./chroma_db，无需独立容器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敏感信息（API Key、数据库口令）统一由 .env 读取，不入库、不硬编码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运行效果与接口自测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访问 http://127.0.0.1:8000 打开前端页面；/docs 查看自动生成的 API 文档；/api/health 可同时检查 MySQL 与 Chroma 的连通性。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已挂载路由：课程、文档、问答、出题、错题、复习共 6 组接口</a:t>
            </a:r>
            <a:endParaRPr sz="15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　总结与展望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成果总结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构建了“上传文档 → 智能问答 → 自动出题”的核心链路，回答可溯源、幻觉可控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 7 张表的数据库设计并实现 ORM 建模，E-R / CDM / PDM 三层模型完整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系统轻量可控，除 MySQL 外不引入分布式中间件，可在普通个人计算机上一键启动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后续展望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完善 F3–F5 模块，补齐“练、测、复”环节，形成完整学习闭环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增加多用户与登录隔离、学习统计可视化、题目与对话导出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探索多轮对话记忆、混合检索（向量 + 关键词）以进一步提升召回质量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　项目分工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序号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姓名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具体分工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袁钟其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2306007106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项目管理与协调：方案设计、任务分解与进度把控；环境搭建与部署验证；答辩组织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周承锦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2306007108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系统全部功能代码实现：分层架构、双库接入、文档入库、RAG 问答、出题判题、错题本、复习计划、前端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霍飞腾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2306007127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系统测试与数据整理：测试用例设计与执行、记录结果数据、整理结果分析指标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陈果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2306007120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界面验证与使用文档：五页面操作验证、界面截图采集、使用说明与部署手册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刘纲正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2306007103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报告撰写与统稿：数据库三层建模设计、过程论述与结果分析撰写、全文统稿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感谢各位老师的聆听与指导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敬请批评指正</a:t>
            </a:r>
            <a:endParaRPr sz="24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组 · 智学助手</a:t>
            </a:r>
            <a:endParaRPr sz="18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4480</Words>
  <Application>WPS 演示</Application>
  <PresentationFormat>On-screen Show (4:3)</PresentationFormat>
  <Paragraphs>551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blue ocean</cp:lastModifiedBy>
  <cp:revision>9</cp:revision>
  <dcterms:created xsi:type="dcterms:W3CDTF">2013-01-27T09:14:00Z</dcterms:created>
  <dcterms:modified xsi:type="dcterms:W3CDTF">2026-09-28T11:37:38Z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87AAD80C47BD40A1832E6593DB50CEAE_12</vt:lpwstr>
  </property>
  <property fmtid="{D5CDD505-2E9C-101B-9397-08002B2CF9AE}" pid="3" name="KSOProductBuildVer">
    <vt:lpwstr>2052-12.1.0.28043</vt:lpwstr>
  </property>
</Properties>
</file>